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Zelle und Gewebe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4BD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Lernpräsentation · Heilpraktiker-Ausbildung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CDD"/>
                </a:solidFill>
              </a:rPr>
              <a:t>1.  Zellaufbau &amp; Zellorganellen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CCDD"/>
                </a:solidFill>
              </a:rPr>
              <a:t>2.  Zellteilung: Mitose &amp; Meiose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CCDD"/>
                </a:solidFill>
              </a:rPr>
              <a:t>3.  DNA &amp; Nukleinsäuren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CCDD"/>
                </a:solidFill>
              </a:rPr>
              <a:t>4.  Epithelgewebe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CCDD"/>
                </a:solidFill>
              </a:rPr>
              <a:t>5.  Binde- &amp; Stützgewebe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CCDD"/>
                </a:solidFill>
              </a:rPr>
              <a:t>6.  Muskelgewebe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CCDD"/>
                </a:solidFill>
              </a:rPr>
              <a:t>7.  Nervengewebe &amp; Neuron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Die Zelle – Grundbaustein des Lebens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4023360" cy="38404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0972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KLASSIFIKATION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572768"/>
            <a:ext cx="1097280" cy="502920"/>
          </a:xfrm>
          <a:prstGeom prst="rect">
            <a:avLst/>
          </a:prstGeom>
          <a:solidFill>
            <a:srgbClr val="0D7377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57276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Protozoen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00200" y="1591056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C4E"/>
                </a:solidFill>
              </a:rPr>
              <a:t>Einzeller (z. B. Urtierchen)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267712"/>
            <a:ext cx="1097280" cy="502920"/>
          </a:xfrm>
          <a:prstGeom prst="rect">
            <a:avLst/>
          </a:prstGeom>
          <a:solidFill>
            <a:srgbClr val="0D7377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2677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Metazoen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00200" y="22860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C4E"/>
                </a:solidFill>
              </a:rPr>
              <a:t>Vielzeller – der Mensch hat ~100 Bill. Zellen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962656"/>
            <a:ext cx="1097280" cy="502920"/>
          </a:xfrm>
          <a:prstGeom prst="rect">
            <a:avLst/>
          </a:prstGeom>
          <a:solidFill>
            <a:srgbClr val="0D7377">
              <a:alpha val="8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962656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Prokaryoten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00200" y="2980944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C4E"/>
                </a:solidFill>
              </a:rPr>
              <a:t>Zellen OHNE Zellkern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657600"/>
            <a:ext cx="1097280" cy="502920"/>
          </a:xfrm>
          <a:prstGeom prst="rect">
            <a:avLst/>
          </a:prstGeom>
          <a:solidFill>
            <a:srgbClr val="0D7377">
              <a:alpha val="8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6576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Eukaryoten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00200" y="367588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C4E"/>
                </a:solidFill>
              </a:rPr>
              <a:t>Zellen MIT Zellkern &amp; Organellen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17720" y="1097280"/>
            <a:ext cx="4206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1097280"/>
            <a:ext cx="4206240" cy="38404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720" y="10972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FUNKTIONEN &amp; GEMEINSAMKEITEN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9160" y="1572768"/>
            <a:ext cx="4023360" cy="28346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C4E"/>
                </a:solidFill>
              </a:rPr>
              <a:t>Stoffe aufnehmen, umbauen &amp; freisetzen (Stoffwechsel)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C4E"/>
                </a:solidFill>
              </a:rPr>
              <a:t>Wachsen, teilen &amp; auf Reize reagieren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C4E"/>
                </a:solidFill>
              </a:rPr>
              <a:t>Alle Zellen haben Zellmembran, Grundsubstanz &amp; Zellkern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C4E"/>
                </a:solidFill>
              </a:rPr>
              <a:t>Ausnahme: Rote Blutkörperchen (kein Zellkern)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2C4E"/>
                </a:solidFill>
              </a:rPr>
              <a:t>Funktionelle Differenzierung → verschiedene Formen &amp; Größen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Zellbestandteile &amp; Organellen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269748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51560"/>
            <a:ext cx="54864" cy="107899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292608" y="1106424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</a:rPr>
              <a:t>Zellmembran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" y="1399032"/>
            <a:ext cx="2532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C4E"/>
                </a:solidFill>
              </a:rPr>
              <a:t>Flexible Hülle, schützt Zelle, reguliert Stoffdurchtritt (Semipermeabilität)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71800" y="1051560"/>
            <a:ext cx="269748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71800" y="1051560"/>
            <a:ext cx="54864" cy="1078992"/>
          </a:xfrm>
          <a:prstGeom prst="rect">
            <a:avLst/>
          </a:prstGeom>
          <a:solidFill>
            <a:srgbClr val="14BDBC"/>
          </a:solidFill>
          <a:ln/>
        </p:spPr>
      </p:sp>
      <p:sp>
        <p:nvSpPr>
          <p:cNvPr id="10" name="Text 8"/>
          <p:cNvSpPr/>
          <p:nvPr/>
        </p:nvSpPr>
        <p:spPr>
          <a:xfrm>
            <a:off x="3081528" y="1106424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DBC"/>
                </a:solidFill>
              </a:rPr>
              <a:t>Zytoplasma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81528" y="1399032"/>
            <a:ext cx="2532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C4E"/>
                </a:solidFill>
              </a:rPr>
              <a:t>Hauptmasse der Zelle – Arbeits- und Speichergebiet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60720" y="1051560"/>
            <a:ext cx="269748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60720" y="1051560"/>
            <a:ext cx="54864" cy="107899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5870448" y="1106424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</a:rPr>
              <a:t>Endoplasmat. Retikulum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70448" y="1399032"/>
            <a:ext cx="2532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C4E"/>
                </a:solidFill>
              </a:rPr>
              <a:t>Hohlraumsystem für Transport gelöster Stoffe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2221992"/>
            <a:ext cx="269748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2221992"/>
            <a:ext cx="54864" cy="1078992"/>
          </a:xfrm>
          <a:prstGeom prst="rect">
            <a:avLst/>
          </a:prstGeom>
          <a:solidFill>
            <a:srgbClr val="14BDBC"/>
          </a:solidFill>
          <a:ln/>
        </p:spPr>
      </p:sp>
      <p:sp>
        <p:nvSpPr>
          <p:cNvPr id="18" name="Text 16"/>
          <p:cNvSpPr/>
          <p:nvPr/>
        </p:nvSpPr>
        <p:spPr>
          <a:xfrm>
            <a:off x="292608" y="2276856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DBC"/>
                </a:solidFill>
              </a:rPr>
              <a:t>Ribosomen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2608" y="2569464"/>
            <a:ext cx="2532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C4E"/>
                </a:solidFill>
              </a:rPr>
              <a:t>Kleine Kügelchen – zuständig für Eiweißsynthese (Translation der mRNA)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71800" y="2221992"/>
            <a:ext cx="269748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971800" y="2221992"/>
            <a:ext cx="54864" cy="107899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3081528" y="2276856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</a:rPr>
              <a:t>Mitochondrien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81528" y="2569464"/>
            <a:ext cx="2532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C4E"/>
                </a:solidFill>
              </a:rPr>
              <a:t>"Kraftwerk der Zelle" – Energiegewinnung als ATP. Herzmuskel = sehr reich an Mitochondrien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760720" y="2221992"/>
            <a:ext cx="269748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60720" y="2221992"/>
            <a:ext cx="54864" cy="1078992"/>
          </a:xfrm>
          <a:prstGeom prst="rect">
            <a:avLst/>
          </a:prstGeom>
          <a:solidFill>
            <a:srgbClr val="14BDBC"/>
          </a:solidFill>
          <a:ln/>
        </p:spPr>
      </p:sp>
      <p:sp>
        <p:nvSpPr>
          <p:cNvPr id="26" name="Text 24"/>
          <p:cNvSpPr/>
          <p:nvPr/>
        </p:nvSpPr>
        <p:spPr>
          <a:xfrm>
            <a:off x="5870448" y="2276856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DBC"/>
                </a:solidFill>
              </a:rPr>
              <a:t>Zellkern (Nukleus)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70448" y="2569464"/>
            <a:ext cx="2532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C4E"/>
                </a:solidFill>
              </a:rPr>
              <a:t>Steuerorgan: speichert gesamte Erbinformation (DNA). Ausnahme: rote Blutkörperchen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82880" y="3392424"/>
            <a:ext cx="269748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2880" y="3392424"/>
            <a:ext cx="54864" cy="107899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0" name="Text 28"/>
          <p:cNvSpPr/>
          <p:nvPr/>
        </p:nvSpPr>
        <p:spPr>
          <a:xfrm>
            <a:off x="292608" y="3447288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</a:rPr>
              <a:t>Chromosomen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92608" y="3739896"/>
            <a:ext cx="2532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C4E"/>
                </a:solidFill>
              </a:rPr>
              <a:t>Träger der Erbanlagen. 46 Chromosomen (23 Paare): 22 Autosome + 1 Paar Heterosome (XX=♀ / XY=♂)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971800" y="3392424"/>
            <a:ext cx="269748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971800" y="3392424"/>
            <a:ext cx="54864" cy="1078992"/>
          </a:xfrm>
          <a:prstGeom prst="rect">
            <a:avLst/>
          </a:prstGeom>
          <a:solidFill>
            <a:srgbClr val="14BDBC"/>
          </a:solidFill>
          <a:ln/>
        </p:spPr>
      </p:sp>
      <p:sp>
        <p:nvSpPr>
          <p:cNvPr id="34" name="Text 32"/>
          <p:cNvSpPr/>
          <p:nvPr/>
        </p:nvSpPr>
        <p:spPr>
          <a:xfrm>
            <a:off x="3081528" y="3447288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DBC"/>
                </a:solidFill>
              </a:rPr>
              <a:t>Lysosomen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081528" y="3739896"/>
            <a:ext cx="2532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C4E"/>
                </a:solidFill>
              </a:rPr>
              <a:t>"Polizei der Zelle" – lösen überflüssiges Material auf (Lysis = Lösung)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760720" y="3392424"/>
            <a:ext cx="2697480" cy="107899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760720" y="3392424"/>
            <a:ext cx="54864" cy="1078992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8" name="Text 36"/>
          <p:cNvSpPr/>
          <p:nvPr/>
        </p:nvSpPr>
        <p:spPr>
          <a:xfrm>
            <a:off x="5870448" y="3447288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</a:rPr>
              <a:t>Zentrosomen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870448" y="3739896"/>
            <a:ext cx="25328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C4E"/>
                </a:solidFill>
              </a:rPr>
              <a:t>Wichtig für die Zellteilung, regulieren Bewegungsvorgänge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Zellteilung: Mitose &amp; Meiose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0" cy="411480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MITOSE  (Körperzellen)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C4E"/>
                </a:solidFill>
              </a:rPr>
              <a:t>Tochterzellen identisch mit Mutterzelle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C4E"/>
                </a:solidFill>
              </a:rPr>
              <a:t>Erbinformation wird fehlerfrei übertragen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C4E"/>
                </a:solidFill>
              </a:rPr>
              <a:t>5 PHASEN: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514600"/>
            <a:ext cx="685800" cy="457200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25146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1. Interphase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161288" y="2514600"/>
            <a:ext cx="685800" cy="4572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1161288" y="25146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2. Prophase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911096" y="2514600"/>
            <a:ext cx="685800" cy="457200"/>
          </a:xfrm>
          <a:prstGeom prst="rect">
            <a:avLst/>
          </a:prstGeom>
          <a:solidFill>
            <a:srgbClr val="14BDBC"/>
          </a:solidFill>
          <a:ln/>
        </p:spPr>
      </p:sp>
      <p:sp>
        <p:nvSpPr>
          <p:cNvPr id="13" name="Text 11"/>
          <p:cNvSpPr/>
          <p:nvPr/>
        </p:nvSpPr>
        <p:spPr>
          <a:xfrm>
            <a:off x="1911096" y="25146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3. Metaphase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660904" y="2514600"/>
            <a:ext cx="685800" cy="4572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2660904" y="25146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4. Anaphase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410712" y="2514600"/>
            <a:ext cx="685800" cy="457200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17" name="Text 15"/>
          <p:cNvSpPr/>
          <p:nvPr/>
        </p:nvSpPr>
        <p:spPr>
          <a:xfrm>
            <a:off x="3410712" y="25146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5. Telophase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11480" y="310896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C4E"/>
                </a:solidFill>
              </a:rPr>
              <a:t>✔ Alle Körperzellen außer Geschlechtszellen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C4E"/>
                </a:solidFill>
              </a:rPr>
              <a:t>✔ Exakte Kopie der Mutterzelle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C4E"/>
                </a:solidFill>
              </a:rPr>
              <a:t>✔ Wichtig für Wachstum &amp; Reparatur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05156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051560"/>
            <a:ext cx="4114800" cy="41148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10515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MEIOSE  (Geschlechtszellen)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155448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</a:rPr>
              <a:t>= Reduktionsteilung
</a:t>
            </a:r>
            <a:pPr indent="0" marL="0">
              <a:buNone/>
            </a:pPr>
            <a:r>
              <a:rPr lang="en-US" sz="1100" dirty="0">
                <a:solidFill>
                  <a:srgbClr val="1A2C4E"/>
                </a:solidFill>
              </a:rPr>
              <a:t>Aus Zellen mit </a:t>
            </a:r>
            <a:pPr indent="0" marL="0">
              <a:buNone/>
            </a:pPr>
            <a:r>
              <a:rPr lang="en-US" sz="1100" b="1" dirty="0">
                <a:solidFill>
                  <a:srgbClr val="1A2C4E"/>
                </a:solidFill>
              </a:rPr>
              <a:t>doppeltem Chromosomensatz </a:t>
            </a:r>
            <a:pPr indent="0" marL="0">
              <a:buNone/>
            </a:pPr>
            <a:r>
              <a:rPr lang="en-US" sz="1100" dirty="0">
                <a:solidFill>
                  <a:srgbClr val="1A2C4E"/>
                </a:solidFill>
              </a:rPr>
              <a:t>(23 Paare) entstehen Tochterzellen mit </a:t>
            </a:r>
            <a:pPr indent="0" marL="0">
              <a:buNone/>
            </a:pPr>
            <a:r>
              <a:rPr lang="en-US" sz="1100" b="1" dirty="0">
                <a:solidFill>
                  <a:srgbClr val="1A2C4E"/>
                </a:solidFill>
              </a:rPr>
              <a:t>einfachem Chromosomensatz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C4E"/>
                </a:solidFill>
              </a:rPr>
              <a:t>→ Bei Eizelle (XX) &amp; Samenzelle (XY)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</a:rPr>
              <a:t>Ergebnis: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C4E"/>
                </a:solidFill>
              </a:rPr>
              <a:t>XX + XY → XX (♀) oder XY (♂)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&amp; Nukleinsäuren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35661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114800" cy="384048"/>
          </a:xfrm>
          <a:prstGeom prst="rect">
            <a:avLst/>
          </a:prstGeom>
          <a:solidFill>
            <a:srgbClr val="14BDBC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DNA – Desoxyribonukleinsäure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DBC"/>
                </a:solidFill>
              </a:rPr>
              <a:t>Struktur: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Doppelhelix – zwei Stränge umwickeln sich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4BDBC"/>
                </a:solidFill>
              </a:rPr>
              <a:t>Funktion:
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Träger der Erbinformation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Enthält Gene mit Zellfunktions-Infos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Gesamtes Erbgut als "Protein-Codes" verschlüsselt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35661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4114800" cy="38404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972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RNA – Ribonukleinsäure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157276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Struktur: Einzelstrang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Drei Arten: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92040" y="2304288"/>
            <a:ext cx="594360" cy="54864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230428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mRNA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77840" y="23042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</a:rPr>
              <a:t>Messenger-RNA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</a:rPr>
              <a:t>Transportiert die Bauanleitung vom Zellkern zu den Ribosomen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92040" y="3081528"/>
            <a:ext cx="594360" cy="54864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308152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tRNA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577840" y="308152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</a:rPr>
              <a:t>Transfer-RNA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</a:rPr>
              <a:t>Bringt die Aminosäuren für die Proteinsynthese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92040" y="3858768"/>
            <a:ext cx="594360" cy="54864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858768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rRNA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77840" y="385876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</a:rPr>
              <a:t>Ribosomale RNA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CDDEE"/>
                </a:solidFill>
              </a:rPr>
              <a:t>Baustein der Ribosomen, wichtig für Translation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Epithelgewebe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658368"/>
          </a:xfrm>
          <a:prstGeom prst="rect">
            <a:avLst/>
          </a:prstGeom>
          <a:solidFill>
            <a:srgbClr val="0D7377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78992"/>
            <a:ext cx="8412480" cy="60350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2C4E"/>
                </a:solidFill>
              </a:rPr>
              <a:t>epi (auf) + thelos (Hülle) → Deckgewebe: überall wo eine Oberfläche abzudecken ist  |  Vorkommen: Außenhaut, Schleimhäute, Magen-Darm-Kanal, Harnwege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2743200" cy="1005840"/>
          </a:xfrm>
          <a:prstGeom prst="rect">
            <a:avLst/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865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DECKEPITHEL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231136"/>
            <a:ext cx="27432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Schutzfunktion &amp; Stoffaustausch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8688" y="1828800"/>
            <a:ext cx="2743200" cy="1005840"/>
          </a:xfrm>
          <a:prstGeom prst="rect">
            <a:avLst/>
          </a:prstGeom>
          <a:solidFill>
            <a:srgbClr val="1A2C4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18688" y="1865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DRÜSENEPITHEL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18688" y="2231136"/>
            <a:ext cx="27432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Sekretion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(Speichel, Magensaft, Galle…)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63056" y="1828800"/>
            <a:ext cx="2743200" cy="1005840"/>
          </a:xfrm>
          <a:prstGeom prst="rect">
            <a:avLst/>
          </a:prstGeom>
          <a:solidFill>
            <a:srgbClr val="E8A83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63056" y="186537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SINNESEPITHEL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63056" y="2231136"/>
            <a:ext cx="27432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Reizaufnahme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(z. B. Sinneshaarzellen im Ohr)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29718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</a:rPr>
              <a:t>Einschichtiges Deckepithel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29184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337560"/>
            <a:ext cx="384048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C4E"/>
                </a:solidFill>
              </a:rPr>
              <a:t>Plattenepithel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C4E"/>
                </a:solidFill>
              </a:rPr>
              <a:t>Kubisches Epithel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C4E"/>
                </a:solidFill>
              </a:rPr>
              <a:t>Zylinderepithel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C4E"/>
                </a:solidFill>
              </a:rPr>
              <a:t>Mehrreihiges Epithel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9718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C4E"/>
                </a:solidFill>
              </a:rPr>
              <a:t>Mehrschichtiges Deckepithel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329184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3337560"/>
            <a:ext cx="384048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C4E"/>
                </a:solidFill>
              </a:rPr>
              <a:t>Mehrsch. Plattenepithel (verhornt &amp; unverhornt)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C4E"/>
                </a:solidFill>
              </a:rPr>
              <a:t>Mehrsch. Zylinderepithel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2C4E"/>
                </a:solidFill>
              </a:rPr>
              <a:t>Übergangsepithel (z. B. Harnblase)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Drüsenepithel &amp; Mesothel / Endothel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9319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393192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EXOKRINE DRÜSEN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C4E"/>
                </a:solidFill>
              </a:rPr>
              <a:t>Geben Sekret über Ausführungsgang an die ÄUSSERE Körperoberfläche ab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C4E"/>
                </a:solidFill>
              </a:rPr>
              <a:t>Beispiele: Speicheldrüse, Schweißdrüse, Bauchspeicheldrüse (exokriner Anteil)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429768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097280"/>
            <a:ext cx="4297680" cy="411480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0972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ENDOKRINE DRÜSEN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1572768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C4E"/>
                </a:solidFill>
              </a:rPr>
              <a:t>Geben Sekret DIREKT INS BLUT ab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C4E"/>
                </a:solidFill>
              </a:rPr>
              <a:t>Beispiele: Schilddrüse, Nebenniere, Hypophyse, Inselzellen der Bauchspeicheldrüse (Insulin)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429000"/>
            <a:ext cx="39319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429000"/>
            <a:ext cx="3931920" cy="347472"/>
          </a:xfrm>
          <a:prstGeom prst="rect">
            <a:avLst/>
          </a:prstGeom>
          <a:solidFill>
            <a:srgbClr val="5C7A9B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3429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MESOTHEL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8404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C4E"/>
                </a:solidFill>
              </a:rPr>
              <a:t>Auskleidung von Leibeshöhlen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C4E"/>
                </a:solidFill>
              </a:rPr>
              <a:t>• Bauchfell (Peritoneum)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C4E"/>
                </a:solidFill>
              </a:rPr>
              <a:t>• Lungen-/Rippenfell (Pleura)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C4E"/>
                </a:solidFill>
              </a:rPr>
              <a:t>• Herzbeutel (Perikard)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0" y="3429000"/>
            <a:ext cx="429768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3429000"/>
            <a:ext cx="4297680" cy="347472"/>
          </a:xfrm>
          <a:prstGeom prst="rect">
            <a:avLst/>
          </a:prstGeom>
          <a:solidFill>
            <a:srgbClr val="5C7A9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342900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ENDOTHEL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38404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C4E"/>
                </a:solidFill>
              </a:rPr>
              <a:t>Auskleidung von Blut- und Lymphgefäßen sowie der Herzinnenhaut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Binde- &amp; Stützgewebe (BG)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502920"/>
          </a:xfrm>
          <a:prstGeom prst="rect">
            <a:avLst/>
          </a:prstGeom>
          <a:solidFill>
            <a:srgbClr val="0D7377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97280"/>
            <a:ext cx="84124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A2C4E"/>
                </a:solidFill>
              </a:rPr>
              <a:t>Häufigstes Gewebe des Körpers • Besteht aus: Zellen, Fasern &amp; Grundsubstanz • Verbindet Gewebe, Organe und Systeme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41605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91640"/>
            <a:ext cx="4160520" cy="3657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6916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GRUNDSUBSTANZ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093976"/>
            <a:ext cx="3977640" cy="11430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C4E"/>
                </a:solidFill>
              </a:rPr>
              <a:t>Wasser, Proteine &amp; Salze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C4E"/>
                </a:solidFill>
              </a:rPr>
              <a:t>Konsistenz: sol- (Blut), gel- (Fett) oder fest (Knochen, Knorpel)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691640"/>
            <a:ext cx="41605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691640"/>
            <a:ext cx="4160520" cy="365760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6916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ZELLARTEN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2093976"/>
            <a:ext cx="3977640" cy="11430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C4E"/>
                </a:solidFill>
              </a:rPr>
              <a:t>Fixe BG-Zellen: Fibroblasten &amp; Fibrozyten (Regeneration &amp; Grundsubstanz)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C4E"/>
                </a:solidFill>
              </a:rPr>
              <a:t>Mobile BG-Zellen: Histiozyten, Monozyten, Lymphozyten, Granulozyten, Plasmazellen → Immunabwehr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429000"/>
            <a:ext cx="41605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429000"/>
            <a:ext cx="4160520" cy="365760"/>
          </a:xfrm>
          <a:prstGeom prst="rect">
            <a:avLst/>
          </a:prstGeom>
          <a:solidFill>
            <a:srgbClr val="5C7A9B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34290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FASERN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831336"/>
            <a:ext cx="3977640" cy="11430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C4E"/>
                </a:solidFill>
              </a:rPr>
              <a:t>Kollagenfasern: Zugfest &amp; elastisch (Menisken, Bandscheiben)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C4E"/>
                </a:solidFill>
              </a:rPr>
              <a:t>Elastische Fasern: Dehnbar (Knorpel Ohr/Nase)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C4E"/>
                </a:solidFill>
              </a:rPr>
              <a:t>Feine Fasern: Basalmembran (Knochenmark, Lymphorgane)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3429000"/>
            <a:ext cx="41605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429000"/>
            <a:ext cx="4160520" cy="36576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20" name="Text 18"/>
          <p:cNvSpPr/>
          <p:nvPr/>
        </p:nvSpPr>
        <p:spPr>
          <a:xfrm>
            <a:off x="4709160" y="34290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FORMEN DES BG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3831336"/>
            <a:ext cx="3977640" cy="11430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C4E"/>
                </a:solidFill>
              </a:rPr>
              <a:t>Fettgewebe: Schutz, Stütz, Nahrungsreserve (Baufett &amp; Speicherfett)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C4E"/>
                </a:solidFill>
              </a:rPr>
              <a:t>Lockeres BG: Füllt Lücken, umhüllt Nerven/Gefäße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C4E"/>
                </a:solidFill>
              </a:rPr>
              <a:t>Straffes BG: Zugfest (Sehnen, Bänder, Faszien, Aponeurosen)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5C7A9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Stützgewebe: Knorpel &amp; Knochen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051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7A9B"/>
                </a:solidFill>
              </a:rPr>
              <a:t>KNORPELGEWEBE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3533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C4E"/>
                </a:solidFill>
              </a:rPr>
              <a:t>Keine Blutgefäße &amp; keine Nerven – wenig regenerationsfähig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91640"/>
            <a:ext cx="73152" cy="713232"/>
          </a:xfrm>
          <a:prstGeom prst="rect">
            <a:avLst/>
          </a:prstGeom>
          <a:solidFill>
            <a:srgbClr val="5C7A9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7190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7A9B"/>
                </a:solidFill>
              </a:rPr>
              <a:t>Hyaliner Knorpel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9933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E"/>
                </a:solidFill>
              </a:rPr>
              <a:t>Häufigster Typ • Gelenkenden, Rippen, Nasenscheidewand, Kehlkopf, Luftröhre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51460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514600"/>
            <a:ext cx="73152" cy="713232"/>
          </a:xfrm>
          <a:prstGeom prst="rect">
            <a:avLst/>
          </a:prstGeom>
          <a:solidFill>
            <a:srgbClr val="5C7A9B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542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7A9B"/>
                </a:solidFill>
              </a:rPr>
              <a:t>Elastischer Knorpel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8163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E"/>
                </a:solidFill>
              </a:rPr>
              <a:t>Kollagene + elastische Fasern, verformbar • Nasenspitze, Ohrmuschel, Kehldeckel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33756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337560"/>
            <a:ext cx="73152" cy="713232"/>
          </a:xfrm>
          <a:prstGeom prst="rect">
            <a:avLst/>
          </a:prstGeom>
          <a:solidFill>
            <a:srgbClr val="5C7A9B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" y="3364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7A9B"/>
                </a:solidFill>
              </a:rPr>
              <a:t>Faserknorpel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6393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E"/>
                </a:solidFill>
              </a:rPr>
              <a:t>Sehr robust, hohe Beanspruchbarkeit • Bandscheiben, Menisken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754880" y="1051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C4E"/>
                </a:solidFill>
              </a:rPr>
              <a:t>KNOCHENGEWEBE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13533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C4E"/>
                </a:solidFill>
              </a:rPr>
              <a:t>Festigkeit durch eingelagerte Kalksalze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69164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691640"/>
            <a:ext cx="73152" cy="640080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7190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C4E"/>
                </a:solidFill>
              </a:rPr>
              <a:t>Osteoblasten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1965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E"/>
                </a:solidFill>
              </a:rPr>
              <a:t>Knochenaufbau → Calcium-Einlagerung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441448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441448"/>
            <a:ext cx="73152" cy="640080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24688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C4E"/>
                </a:solidFill>
              </a:rPr>
              <a:t>Osteozyten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27157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E"/>
                </a:solidFill>
              </a:rPr>
              <a:t>Ausdifferenzierte Knochenzellen, fest eingemauert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3191256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191256"/>
            <a:ext cx="73152" cy="640080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30" name="Text 28"/>
          <p:cNvSpPr/>
          <p:nvPr/>
        </p:nvSpPr>
        <p:spPr>
          <a:xfrm>
            <a:off x="4892040" y="32186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C4E"/>
                </a:solidFill>
              </a:rPr>
              <a:t>Osteoclasten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34655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E"/>
                </a:solidFill>
              </a:rPr>
              <a:t>Knochenabbau → Calcium-Entzug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941064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941064"/>
            <a:ext cx="73152" cy="640080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39684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C4E"/>
                </a:solidFill>
              </a:rPr>
              <a:t>Havers'sche Kanäle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42153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C4E"/>
                </a:solidFill>
              </a:rPr>
              <a:t>Versorgung mit Blut &amp; Nährstoffen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4663440"/>
            <a:ext cx="4114800" cy="365760"/>
          </a:xfrm>
          <a:prstGeom prst="rect">
            <a:avLst/>
          </a:prstGeom>
          <a:solidFill>
            <a:srgbClr val="E8A838">
              <a:alpha val="7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4663440"/>
            <a:ext cx="40233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2C4E"/>
                </a:solidFill>
              </a:rPr>
              <a:t>Ständiger Auf- &amp; Abbau über Osteoblasten/Osteoclasten gewährleistet konstante Knochenform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Muskelgewebe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457200"/>
          </a:xfrm>
          <a:prstGeom prst="rect">
            <a:avLst/>
          </a:prstGeom>
          <a:solidFill>
            <a:srgbClr val="0D7377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78992"/>
            <a:ext cx="841248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2C4E"/>
                </a:solidFill>
              </a:rPr>
              <a:t>Sehr aktiv &amp; energiebedürftig → reich an Mitochondrien  •  Gut durchblutet  •  Benötigt viel O₂ &amp; Glukose  •  Myofibrillen = kontraktile Einheiten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645920"/>
            <a:ext cx="274320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45920"/>
            <a:ext cx="2743200" cy="56692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GLATTE MUSKULATUR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9933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Unwillkürlich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2560320" cy="2542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C4E"/>
                </a:solidFill>
              </a:rPr>
              <a:t>Arbeitet langsam, rhythmisch, autonom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C4E"/>
                </a:solidFill>
              </a:rPr>
              <a:t>NICHT ermüdbar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C4E"/>
                </a:solidFill>
              </a:rPr>
              <a:t>Gesteuert vom vegetativen 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C4E"/>
                </a:solidFill>
              </a:rPr>
              <a:t>Vorkommen: Magen-Darm, Blutgefäße, Atemorgane, Uro-Genitaltrakt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18688" y="1645920"/>
            <a:ext cx="274320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645920"/>
            <a:ext cx="2743200" cy="566928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3" name="Text 11"/>
          <p:cNvSpPr/>
          <p:nvPr/>
        </p:nvSpPr>
        <p:spPr>
          <a:xfrm>
            <a:off x="3218688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HERZMUSKULATUR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18688" y="19933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Sonderstellung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10128" y="2286000"/>
            <a:ext cx="2560320" cy="2542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C4E"/>
                </a:solidFill>
              </a:rPr>
              <a:t>Morphologisch wie quergestreifte Muskulatur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C4E"/>
                </a:solidFill>
              </a:rPr>
              <a:t>Funktionell wie glatte Muskulatur (rhythmisch, unermüdbar, unwillkürlich)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C4E"/>
                </a:solidFill>
              </a:rPr>
              <a:t>Gesteuert vom vegetativen NS (Sympathikus/Parasympathikus)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63056" y="1645920"/>
            <a:ext cx="274320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63056" y="1645920"/>
            <a:ext cx="2743200" cy="566928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18" name="Text 16"/>
          <p:cNvSpPr/>
          <p:nvPr/>
        </p:nvSpPr>
        <p:spPr>
          <a:xfrm>
            <a:off x="6163056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QUERGESTREIFTE MUSKULATUR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63056" y="19933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Willkürlich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54496" y="2286000"/>
            <a:ext cx="2560320" cy="2542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C4E"/>
                </a:solidFill>
              </a:rPr>
              <a:t>Arbeitet rasch, nicht rhythmisch, ermüdbar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C4E"/>
                </a:solidFill>
              </a:rPr>
              <a:t>Unterliegt dem Willen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C4E"/>
                </a:solidFill>
              </a:rPr>
              <a:t>Gesteuert vom willkürlichen NS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C4E"/>
                </a:solidFill>
              </a:rPr>
              <a:t>Vorkommen: Skelett, Gesicht, Zunge, Zwerchfell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solidFill>
            <a:srgbClr val="FFE8B0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C4E"/>
                </a:solidFill>
              </a:rPr>
              <a:t>⚠ Merke: Muskelzellen können sich NICHT teilen! Verlust durch Krankheit/Alter ist irreversibel.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Nervengewebe &amp; das Neuron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0" cy="384048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AUFBAU DES NEURONS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1234440" cy="457200"/>
          </a:xfrm>
          <a:prstGeom prst="rect">
            <a:avLst/>
          </a:prstGeom>
          <a:solidFill>
            <a:srgbClr val="0D7377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5087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Zellkörper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627632" y="152704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C4E"/>
                </a:solidFill>
              </a:rPr>
              <a:t>Mit Kern und Nucleolus, Neurofibrillen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075688"/>
            <a:ext cx="1234440" cy="457200"/>
          </a:xfrm>
          <a:prstGeom prst="rect">
            <a:avLst/>
          </a:prstGeom>
          <a:solidFill>
            <a:srgbClr val="0D7377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07568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Dendriten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627632" y="209397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C4E"/>
                </a:solidFill>
              </a:rPr>
              <a:t>Mehrere kurze Fortsätze → nehmen Reize auf und leiten zum Zellkörper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2642616"/>
            <a:ext cx="1234440" cy="457200"/>
          </a:xfrm>
          <a:prstGeom prst="rect">
            <a:avLst/>
          </a:prstGeom>
          <a:solidFill>
            <a:srgbClr val="0D7377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64261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Axon / Neurit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627632" y="266090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C4E"/>
                </a:solidFill>
              </a:rPr>
              <a:t>Ein langer Fortsatz (bis 1 m!) → leitet Reize vom Zellkörper zur nächsten NZ oder Organ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209544"/>
            <a:ext cx="1234440" cy="457200"/>
          </a:xfrm>
          <a:prstGeom prst="rect">
            <a:avLst/>
          </a:prstGeom>
          <a:solidFill>
            <a:srgbClr val="0D7377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3209544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Synapse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627632" y="322783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C4E"/>
                </a:solidFill>
              </a:rPr>
              <a:t>Verbindungsstelle zwischen Neuriten und Dendriten einer anderen NZ/Sinneszelle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776472"/>
            <a:ext cx="1234440" cy="457200"/>
          </a:xfrm>
          <a:prstGeom prst="rect">
            <a:avLst/>
          </a:prstGeom>
          <a:solidFill>
            <a:srgbClr val="0D7377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3776472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Motor. Endplatte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627632" y="379476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C4E"/>
                </a:solidFill>
              </a:rPr>
              <a:t>Verbindungsstelle zwischen Neuriten und Erfolgsorgan (Muskel)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4343400"/>
            <a:ext cx="1234440" cy="457200"/>
          </a:xfrm>
          <a:prstGeom prst="rect">
            <a:avLst/>
          </a:prstGeom>
          <a:solidFill>
            <a:srgbClr val="0D7377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43434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Neurotransmitter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627632" y="436168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C4E"/>
                </a:solidFill>
              </a:rPr>
              <a:t>Chem. Botenstoffe an Synapsen: Acetylcholin, Noradrenalin, Serotonin, Dopamin, Endorphine…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1051560"/>
            <a:ext cx="411480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051560"/>
            <a:ext cx="4114800" cy="384048"/>
          </a:xfrm>
          <a:prstGeom prst="rect">
            <a:avLst/>
          </a:prstGeom>
          <a:solidFill>
            <a:srgbClr val="5C7A9B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10515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NERVENFASERN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1508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4E"/>
                </a:solidFill>
              </a:rPr>
              <a:t>Anatomisch: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92040" y="1828800"/>
            <a:ext cx="3840480" cy="77724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1856232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C4E"/>
                </a:solidFill>
              </a:rPr>
              <a:t>Marklose NF: Keine Myelinschicht, Reizleitung kontinuierlich &amp; langsam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92040" y="2670048"/>
            <a:ext cx="3840480" cy="9144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269748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C4E"/>
                </a:solidFill>
              </a:rPr>
              <a:t>Markhaltige NF: Mit Myelinschicht, Schwann-Zellen bilden Ranviersche Schnürringe → saltatorische Reizleitung (schnell, von Schnürring zu Schnürring)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703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C4E"/>
                </a:solidFill>
              </a:rPr>
              <a:t>Funktionell: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92040" y="3977640"/>
            <a:ext cx="1828800" cy="685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3977640"/>
            <a:ext cx="18288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AFFERENTE NF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Sensorisch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(empfangen → ZNS)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12280" y="3977640"/>
            <a:ext cx="1828800" cy="685800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37" name="Text 35"/>
          <p:cNvSpPr/>
          <p:nvPr/>
        </p:nvSpPr>
        <p:spPr>
          <a:xfrm>
            <a:off x="6812280" y="3977640"/>
            <a:ext cx="18288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EFFERENTE NF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Motorisch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(agieren → Organe)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C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C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Zusammenfassung – Die 4 Grundgewebe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60520" cy="17830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16052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5156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EPITHELGEWEBE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527048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DBC"/>
                </a:solidFill>
              </a:rPr>
              <a:t>Ursprung: </a:t>
            </a:r>
            <a:pPr indent="0" marL="0">
              <a:buNone/>
            </a:pPr>
            <a:r>
              <a:rPr lang="en-US" sz="1000" dirty="0">
                <a:solidFill>
                  <a:srgbClr val="BBCCDD"/>
                </a:solidFill>
              </a:rPr>
              <a:t>Ekto-, Endo-, Mesoderm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EEEE"/>
                </a:solidFill>
              </a:rPr>
              <a:t>Deckepithel, Drüsenepithel, Sinnesepithel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051560"/>
            <a:ext cx="4160520" cy="17830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51560"/>
            <a:ext cx="4160520" cy="411480"/>
          </a:xfrm>
          <a:prstGeom prst="rect">
            <a:avLst/>
          </a:prstGeom>
          <a:solidFill>
            <a:srgbClr val="5C7A9B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05156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BINDE- &amp; STÜTZGEWEBE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527048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DBC"/>
                </a:solidFill>
              </a:rPr>
              <a:t>Ursprung: </a:t>
            </a:r>
            <a:pPr indent="0" marL="0">
              <a:buNone/>
            </a:pPr>
            <a:r>
              <a:rPr lang="en-US" sz="1000" dirty="0">
                <a:solidFill>
                  <a:srgbClr val="BBCCDD"/>
                </a:solidFill>
              </a:rPr>
              <a:t>Mesoderm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EEEE"/>
                </a:solidFill>
              </a:rPr>
              <a:t>Verbindet, stützt, speichert. Formen: locker, straff, Fett, Knorpel, Knochen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4160520" cy="17830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017520"/>
            <a:ext cx="4160520" cy="411480"/>
          </a:xfrm>
          <a:prstGeom prst="rect">
            <a:avLst/>
          </a:prstGeom>
          <a:solidFill>
            <a:srgbClr val="8B4F8B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30175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MUSKELGEWEBE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493008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DBC"/>
                </a:solidFill>
              </a:rPr>
              <a:t>Ursprung: </a:t>
            </a:r>
            <a:pPr indent="0" marL="0">
              <a:buNone/>
            </a:pPr>
            <a:r>
              <a:rPr lang="en-US" sz="1000" dirty="0">
                <a:solidFill>
                  <a:srgbClr val="BBCCDD"/>
                </a:solidFill>
              </a:rPr>
              <a:t>Mesoderm + Ektoderm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EEEE"/>
                </a:solidFill>
              </a:rPr>
              <a:t>Glatt (unwillkürlich), Quergestreift (willkürlich), Herz (Sonderstellung)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3017520"/>
            <a:ext cx="4160520" cy="178308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017520"/>
            <a:ext cx="4160520" cy="411480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30175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NERVENGEWEBE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493008"/>
            <a:ext cx="3886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DBC"/>
                </a:solidFill>
              </a:rPr>
              <a:t>Ursprung: </a:t>
            </a:r>
            <a:pPr indent="0" marL="0">
              <a:buNone/>
            </a:pPr>
            <a:r>
              <a:rPr lang="en-US" sz="1000" dirty="0">
                <a:solidFill>
                  <a:srgbClr val="BBCCDD"/>
                </a:solidFill>
              </a:rPr>
              <a:t>Ektoderm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DEEEE"/>
                </a:solidFill>
              </a:rPr>
              <a:t>Neuronen (Erregungsleitung) + Gliazellen (Stütz- &amp; Ernährungsfunktion)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73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A2C4E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114800" cy="41148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 Erfolg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468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B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deiner Heilpraktiker-Ausbildung! 🌿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32004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Dieses Skript behandelt: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Zellaufbau · Zellteilung · DNA/RNA · Epithelgewebe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Binde- &amp; Stützgewebe · Muskelgewebe · Nervengewebe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EEDD"/>
                </a:solidFill>
              </a:rPr>
              <a:t>Quellen: Naturheilpraxis Heute (Bierbach) · Netters Innere Medizin · Pschyrembel · flexikon.doccheck.com · Richter, Lehrbuch für Heilpraktiker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Zelle und Gewebe – Lernpräsentation Heilpraktiker</dc:title>
  <dc:subject>PptxGenJS Presentation</dc:subject>
  <dc:creator>PptxGenJS</dc:creator>
  <cp:lastModifiedBy>PptxGenJS</cp:lastModifiedBy>
  <cp:revision>1</cp:revision>
  <dcterms:created xsi:type="dcterms:W3CDTF">2026-03-01T15:08:04Z</dcterms:created>
  <dcterms:modified xsi:type="dcterms:W3CDTF">2026-03-01T15:08:04Z</dcterms:modified>
</cp:coreProperties>
</file>